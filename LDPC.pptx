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1" r:id="rId4"/>
    <p:sldId id="272" r:id="rId5"/>
    <p:sldId id="261" r:id="rId6"/>
    <p:sldId id="277" r:id="rId7"/>
    <p:sldId id="273" r:id="rId8"/>
    <p:sldId id="276" r:id="rId9"/>
    <p:sldId id="275" r:id="rId10"/>
    <p:sldId id="274" r:id="rId11"/>
    <p:sldId id="266" r:id="rId12"/>
    <p:sldId id="264" r:id="rId13"/>
    <p:sldId id="265" r:id="rId14"/>
    <p:sldId id="260" r:id="rId15"/>
    <p:sldId id="270" r:id="rId16"/>
    <p:sldId id="278" r:id="rId1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016" autoAdjust="0"/>
    <p:restoredTop sz="95626" autoAdjust="0"/>
  </p:normalViewPr>
  <p:slideViewPr>
    <p:cSldViewPr snapToGrid="0">
      <p:cViewPr varScale="1">
        <p:scale>
          <a:sx n="106" d="100"/>
          <a:sy n="106" d="100"/>
        </p:scale>
        <p:origin x="124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D87765-5592-4563-84E7-A41B46F36536}" type="datetimeFigureOut">
              <a:rPr lang="zh-TW" altLang="en-US" smtClean="0"/>
              <a:t>2025/1/22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7BCCFF-98A2-4876-A5F8-25F76A96EB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7838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BCCFF-98A2-4876-A5F8-25F76A96EB44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23194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BCCFF-98A2-4876-A5F8-25F76A96EB44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3642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B1EF2A-B225-3C2F-BB2A-3C984B2E4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B43E58F-DF32-086D-DA24-09D9A07773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42D0E2C-7DAA-A5BF-E271-DBB235F76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414A-4E67-430C-BDF3-790FA66FB58F}" type="datetimeFigureOut">
              <a:rPr lang="zh-TW" altLang="en-US" smtClean="0"/>
              <a:t>2025/1/22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BBAE3D-22C7-3E0F-EEE6-2167B5165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3AE2626-7B98-009C-26D8-CBEE53FD5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2982A-B206-45E6-80F2-57039EE423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8607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532A6-5F73-EDD9-FA2E-982B8A250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ED930B-B66D-0DE1-1C8D-04C5BADD3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FBF13B7-25CF-FA2B-D819-DBCD9935B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414A-4E67-430C-BDF3-790FA66FB58F}" type="datetimeFigureOut">
              <a:rPr lang="zh-TW" altLang="en-US" smtClean="0"/>
              <a:t>2025/1/22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61E618A-01E9-69F8-9191-FBB5F0D40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3C288F0-23C6-6829-C7D7-6B026A9CF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2982A-B206-45E6-80F2-57039EE423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5036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12A438-5E43-0D93-462A-F47F080A8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8C863FC-8681-BB03-A721-E70FAFB58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72BE3D4-5989-77C4-B594-3170761F4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414A-4E67-430C-BDF3-790FA66FB58F}" type="datetimeFigureOut">
              <a:rPr lang="zh-TW" altLang="en-US" smtClean="0"/>
              <a:t>2025/1/22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FEDFD11-C611-9746-40A4-E9F83853D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4D05446-F440-B2B2-06E2-DDA5198F1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2982A-B206-45E6-80F2-57039EE423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0027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BB0C52-58BE-519E-DEAD-AE7056377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ABA1D-D8D3-4E16-6862-1ABA3BBA2D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D603565-2856-71B1-F4F3-D5FFDF2928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46193FA-0247-5611-84EE-88453AA58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414A-4E67-430C-BDF3-790FA66FB58F}" type="datetimeFigureOut">
              <a:rPr lang="zh-TW" altLang="en-US" smtClean="0"/>
              <a:t>2025/1/22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D5BC7EF-E345-2EF8-9625-C7B36094A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F2E6DE8-8260-5E9A-770E-E6A6DD65D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2982A-B206-45E6-80F2-57039EE423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2257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E14DA1-3AE6-2EFE-855D-0323ACCB9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B6D36EF-9E13-ECFC-843F-1658833F5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0749923-E735-3BB2-C31C-27FE4AB37B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EDB1C82-34B4-D588-E483-1B20E7160E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A9F4DDC-CB57-5337-EAC5-E5565968CF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5914D12-44D2-C5EA-C7D3-C8FF2223B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414A-4E67-430C-BDF3-790FA66FB58F}" type="datetimeFigureOut">
              <a:rPr lang="zh-TW" altLang="en-US" smtClean="0"/>
              <a:t>2025/1/22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4A10A9E-37DE-B84B-CA02-C95955E1E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3E9E6ED-553C-8AC7-A307-999CC9C12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2982A-B206-45E6-80F2-57039EE423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526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B332C6-D945-9E39-3E9F-50A5EE702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AD7EC1A-50CB-72BC-6CD8-5618C7077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414A-4E67-430C-BDF3-790FA66FB58F}" type="datetimeFigureOut">
              <a:rPr lang="zh-TW" altLang="en-US" smtClean="0"/>
              <a:t>2025/1/22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BE9CD40-0AD5-90CE-E639-4CE586791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F52FC60-C12C-8577-8D69-CA28A5B9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2982A-B206-45E6-80F2-57039EE423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8665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9BBE698-E65E-FE67-6936-B8CD4986B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414A-4E67-430C-BDF3-790FA66FB58F}" type="datetimeFigureOut">
              <a:rPr lang="zh-TW" altLang="en-US" smtClean="0"/>
              <a:t>2025/1/22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F2BEC38-DA1F-978F-2320-2FDEA1A12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36E7A52-FC7F-B5D3-5FE9-0441173DA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2982A-B206-45E6-80F2-57039EE423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262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2408D8-A80C-D1DC-B276-E1AB07A75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D1D0CD-5DFE-BC17-A7E0-E30229288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7C0818B-0B97-424F-61C4-200E2FFAD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CB29A1F-A3B4-3176-B29F-9126B7624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414A-4E67-430C-BDF3-790FA66FB58F}" type="datetimeFigureOut">
              <a:rPr lang="zh-TW" altLang="en-US" smtClean="0"/>
              <a:t>2025/1/22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50BF483-F96A-3328-5D65-BD894E856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EBB11C7-447F-BE7E-073A-9805555E5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2982A-B206-45E6-80F2-57039EE423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9930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2D2CC8-303F-795A-D210-6176CC828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C8F28D8-2C89-41F1-A04F-B50B115981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97FD194-8EBF-36A5-19CD-63256958E8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2BBEF22-A347-3AF6-4E27-D541382FC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414A-4E67-430C-BDF3-790FA66FB58F}" type="datetimeFigureOut">
              <a:rPr lang="zh-TW" altLang="en-US" smtClean="0"/>
              <a:t>2025/1/22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22F107C-B267-58FE-9E77-EA9B7AF7C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3BBF11B-5621-D805-5EE7-B3CC21055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2982A-B206-45E6-80F2-57039EE423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8407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6F6E41-393A-D103-2BBF-ADA34E576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2FFE379-77A5-B1B7-9A28-321BA28FA4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B1CADE-AC05-3347-1E04-62CF5320A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414A-4E67-430C-BDF3-790FA66FB58F}" type="datetimeFigureOut">
              <a:rPr lang="zh-TW" altLang="en-US" smtClean="0"/>
              <a:t>2025/1/22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7E0DD24-B8F6-E857-61BF-9E6BBB237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79C68B2-FA8C-30AD-4DD2-F702235E4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2982A-B206-45E6-80F2-57039EE423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9920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98E3E6C-C0FB-1237-5057-812098DAF3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C51CB14-AA48-FDB1-04F1-AACB482BC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C5E21FD-9CDF-8602-2A0F-A9C2ACF8E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414A-4E67-430C-BDF3-790FA66FB58F}" type="datetimeFigureOut">
              <a:rPr lang="zh-TW" altLang="en-US" smtClean="0"/>
              <a:t>2025/1/22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4182874-F1DD-CD1F-D3DC-606E1DCD7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722CBA5-EC4B-A81C-628A-82E75A347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2982A-B206-45E6-80F2-57039EE423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1121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7029D57-67EC-20A9-FA2D-F577D6E7C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2A34D6A-32A2-4522-1C3D-7D2028D66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E08F90-B2D9-F32B-E37F-5466AD8DB2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1B414A-4E67-430C-BDF3-790FA66FB58F}" type="datetimeFigureOut">
              <a:rPr lang="zh-TW" altLang="en-US" smtClean="0"/>
              <a:t>2025/1/22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3D64E0F-04AD-CE0F-620E-7E90D3614B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1F755A3-F16B-E197-4A8B-605C9B53DB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62982A-B206-45E6-80F2-57039EE423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8323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10AE89-72D7-B317-0260-8D303C5D6E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LDPC</a:t>
            </a:r>
            <a:r>
              <a:rPr lang="zh-TW" altLang="en-US" dirty="0"/>
              <a:t> </a:t>
            </a:r>
            <a:r>
              <a:rPr lang="en-US" altLang="zh-TW" dirty="0"/>
              <a:t>Decoding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C516B79-224C-FCB7-B9A6-906343F516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E24104024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李姿穎</a:t>
            </a:r>
          </a:p>
        </p:txBody>
      </p:sp>
    </p:spTree>
    <p:extLst>
      <p:ext uri="{BB962C8B-B14F-4D97-AF65-F5344CB8AC3E}">
        <p14:creationId xmlns:p14="http://schemas.microsoft.com/office/powerpoint/2010/main" val="2250547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593A67-9E0E-1A1D-9589-0764D1FF6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Block Diagram</a:t>
            </a:r>
            <a:endParaRPr lang="zh-TW" altLang="en-US" dirty="0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DE4192C1-1C40-499B-A78F-92F4A905F1C3}"/>
              </a:ext>
            </a:extLst>
          </p:cNvPr>
          <p:cNvGrpSpPr/>
          <p:nvPr/>
        </p:nvGrpSpPr>
        <p:grpSpPr>
          <a:xfrm>
            <a:off x="3471280" y="1715468"/>
            <a:ext cx="1502796" cy="886743"/>
            <a:chOff x="2204467" y="1836751"/>
            <a:chExt cx="1502796" cy="930303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D1B573AA-38F6-480D-A092-0B388AADF26D}"/>
                </a:ext>
              </a:extLst>
            </p:cNvPr>
            <p:cNvSpPr/>
            <p:nvPr/>
          </p:nvSpPr>
          <p:spPr>
            <a:xfrm>
              <a:off x="2204467" y="1836751"/>
              <a:ext cx="1502796" cy="9303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5CC83AE2-38ED-4512-BE59-F4D0DF4CB5C8}"/>
                </a:ext>
              </a:extLst>
            </p:cNvPr>
            <p:cNvSpPr/>
            <p:nvPr/>
          </p:nvSpPr>
          <p:spPr>
            <a:xfrm>
              <a:off x="2351372" y="2071070"/>
              <a:ext cx="1208985" cy="461665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TW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Encoder</a:t>
              </a:r>
              <a:endParaRPr lang="zh-TW" altLang="en-US" sz="1600" dirty="0"/>
            </a:p>
          </p:txBody>
        </p:sp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8F08B828-8705-4B4A-924C-3705D095954C}"/>
              </a:ext>
            </a:extLst>
          </p:cNvPr>
          <p:cNvGrpSpPr/>
          <p:nvPr/>
        </p:nvGrpSpPr>
        <p:grpSpPr>
          <a:xfrm>
            <a:off x="7127817" y="1690688"/>
            <a:ext cx="1502796" cy="930303"/>
            <a:chOff x="1979876" y="1836751"/>
            <a:chExt cx="1502796" cy="930303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4B2BE0BE-5218-4191-8EA0-3EFDDB4B856C}"/>
                </a:ext>
              </a:extLst>
            </p:cNvPr>
            <p:cNvSpPr/>
            <p:nvPr/>
          </p:nvSpPr>
          <p:spPr>
            <a:xfrm>
              <a:off x="1979876" y="1836751"/>
              <a:ext cx="1502796" cy="9303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2ABC68CE-4E1B-487D-939E-F3BBE3BBAE9B}"/>
                </a:ext>
              </a:extLst>
            </p:cNvPr>
            <p:cNvSpPr/>
            <p:nvPr/>
          </p:nvSpPr>
          <p:spPr>
            <a:xfrm>
              <a:off x="1999574" y="2071069"/>
              <a:ext cx="1483098" cy="461665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TW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Modulator</a:t>
              </a:r>
              <a:endParaRPr lang="zh-TW" altLang="en-US" sz="1600" dirty="0"/>
            </a:p>
          </p:txBody>
        </p:sp>
      </p:grpSp>
      <p:grpSp>
        <p:nvGrpSpPr>
          <p:cNvPr id="7" name="群組 6">
            <a:extLst>
              <a:ext uri="{FF2B5EF4-FFF2-40B4-BE49-F238E27FC236}">
                <a16:creationId xmlns:a16="http://schemas.microsoft.com/office/drawing/2014/main" id="{FA8836DA-E833-482F-A786-FAB26935A203}"/>
              </a:ext>
            </a:extLst>
          </p:cNvPr>
          <p:cNvGrpSpPr/>
          <p:nvPr/>
        </p:nvGrpSpPr>
        <p:grpSpPr>
          <a:xfrm>
            <a:off x="10273589" y="3360199"/>
            <a:ext cx="1502796" cy="930303"/>
            <a:chOff x="1979876" y="1836751"/>
            <a:chExt cx="1502796" cy="93030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7FAF506F-5A60-45B0-934C-B27B3CB7143A}"/>
                </a:ext>
              </a:extLst>
            </p:cNvPr>
            <p:cNvSpPr/>
            <p:nvPr/>
          </p:nvSpPr>
          <p:spPr>
            <a:xfrm>
              <a:off x="1979876" y="1836751"/>
              <a:ext cx="1502796" cy="9303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C7A93198-D2C3-4BC0-8EEE-78F2772E34B3}"/>
                </a:ext>
              </a:extLst>
            </p:cNvPr>
            <p:cNvSpPr/>
            <p:nvPr/>
          </p:nvSpPr>
          <p:spPr>
            <a:xfrm>
              <a:off x="2174707" y="2071069"/>
              <a:ext cx="1118640" cy="461665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TW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AWGN</a:t>
              </a:r>
              <a:endParaRPr lang="zh-TW" altLang="en-US" sz="1600" dirty="0"/>
            </a:p>
          </p:txBody>
        </p:sp>
      </p:grp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1488D907-EF63-423C-BD9B-11ED780A47EB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838200" y="2158840"/>
            <a:ext cx="26330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B862AEA9-93CE-4AEA-BF15-4BF84911E714}"/>
              </a:ext>
            </a:extLst>
          </p:cNvPr>
          <p:cNvCxnSpPr>
            <a:cxnSpLocks/>
            <a:stCxn id="38" idx="3"/>
            <a:endCxn id="36" idx="1"/>
          </p:cNvCxnSpPr>
          <p:nvPr/>
        </p:nvCxnSpPr>
        <p:spPr>
          <a:xfrm flipV="1">
            <a:off x="4974076" y="2155840"/>
            <a:ext cx="2153741" cy="3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接點: 肘形 11">
            <a:extLst>
              <a:ext uri="{FF2B5EF4-FFF2-40B4-BE49-F238E27FC236}">
                <a16:creationId xmlns:a16="http://schemas.microsoft.com/office/drawing/2014/main" id="{4E700592-DEFA-426A-A0E7-F0F3A4CDFFD8}"/>
              </a:ext>
            </a:extLst>
          </p:cNvPr>
          <p:cNvCxnSpPr>
            <a:cxnSpLocks/>
            <a:stCxn id="36" idx="3"/>
            <a:endCxn id="32" idx="0"/>
          </p:cNvCxnSpPr>
          <p:nvPr/>
        </p:nvCxnSpPr>
        <p:spPr>
          <a:xfrm>
            <a:off x="8630613" y="2155840"/>
            <a:ext cx="2394374" cy="120435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接點: 肘形 12">
            <a:extLst>
              <a:ext uri="{FF2B5EF4-FFF2-40B4-BE49-F238E27FC236}">
                <a16:creationId xmlns:a16="http://schemas.microsoft.com/office/drawing/2014/main" id="{D0653B80-331A-4D28-90C2-B23A6EF508C0}"/>
              </a:ext>
            </a:extLst>
          </p:cNvPr>
          <p:cNvCxnSpPr>
            <a:cxnSpLocks/>
            <a:stCxn id="32" idx="2"/>
            <a:endCxn id="30" idx="3"/>
          </p:cNvCxnSpPr>
          <p:nvPr/>
        </p:nvCxnSpPr>
        <p:spPr>
          <a:xfrm rot="5400000">
            <a:off x="10006770" y="4111533"/>
            <a:ext cx="839249" cy="119718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63DB3E03-E1F5-48E5-A533-E6F091C59FFF}"/>
              </a:ext>
            </a:extLst>
          </p:cNvPr>
          <p:cNvCxnSpPr>
            <a:cxnSpLocks/>
            <a:stCxn id="78" idx="1"/>
          </p:cNvCxnSpPr>
          <p:nvPr/>
        </p:nvCxnSpPr>
        <p:spPr>
          <a:xfrm flipH="1" flipV="1">
            <a:off x="838200" y="5111256"/>
            <a:ext cx="800274" cy="48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41">
                <a:extLst>
                  <a:ext uri="{FF2B5EF4-FFF2-40B4-BE49-F238E27FC236}">
                    <a16:creationId xmlns:a16="http://schemas.microsoft.com/office/drawing/2014/main" id="{8D89C561-FD20-463D-934C-FF4EE0A78945}"/>
                  </a:ext>
                </a:extLst>
              </p:cNvPr>
              <p:cNvSpPr txBox="1"/>
              <p:nvPr/>
            </p:nvSpPr>
            <p:spPr>
              <a:xfrm>
                <a:off x="470234" y="1956229"/>
                <a:ext cx="26770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zh-TW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1" i="1" smtClean="0">
                          <a:latin typeface="Cambria Math" panose="02040503050406030204" pitchFamily="18" charset="0"/>
                        </a:rPr>
                        <m:t>𝒖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7" name="文字方塊 41">
                <a:extLst>
                  <a:ext uri="{FF2B5EF4-FFF2-40B4-BE49-F238E27FC236}">
                    <a16:creationId xmlns:a16="http://schemas.microsoft.com/office/drawing/2014/main" id="{8D89C561-FD20-463D-934C-FF4EE0A78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234" y="1956229"/>
                <a:ext cx="267702" cy="369332"/>
              </a:xfrm>
              <a:prstGeom prst="rect">
                <a:avLst/>
              </a:prstGeom>
              <a:blipFill>
                <a:blip r:embed="rId2"/>
                <a:stretch>
                  <a:fillRect l="-15909" r="-15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42">
                <a:extLst>
                  <a:ext uri="{FF2B5EF4-FFF2-40B4-BE49-F238E27FC236}">
                    <a16:creationId xmlns:a16="http://schemas.microsoft.com/office/drawing/2014/main" id="{B1AD7BD6-2CF3-4BF4-8C50-BB50B8E30F7F}"/>
                  </a:ext>
                </a:extLst>
              </p:cNvPr>
              <p:cNvSpPr txBox="1"/>
              <p:nvPr/>
            </p:nvSpPr>
            <p:spPr>
              <a:xfrm>
                <a:off x="5795666" y="1783295"/>
                <a:ext cx="22442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zh-TW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1" i="1" smtClean="0"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8" name="文字方塊 42">
                <a:extLst>
                  <a:ext uri="{FF2B5EF4-FFF2-40B4-BE49-F238E27FC236}">
                    <a16:creationId xmlns:a16="http://schemas.microsoft.com/office/drawing/2014/main" id="{B1AD7BD6-2CF3-4BF4-8C50-BB50B8E30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666" y="1783295"/>
                <a:ext cx="224420" cy="369332"/>
              </a:xfrm>
              <a:prstGeom prst="rect">
                <a:avLst/>
              </a:prstGeom>
              <a:blipFill>
                <a:blip r:embed="rId3"/>
                <a:stretch>
                  <a:fillRect l="-18919" r="-189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43">
                <a:extLst>
                  <a:ext uri="{FF2B5EF4-FFF2-40B4-BE49-F238E27FC236}">
                    <a16:creationId xmlns:a16="http://schemas.microsoft.com/office/drawing/2014/main" id="{D7F1B136-2095-4E36-B7EE-E969CB087F99}"/>
                  </a:ext>
                </a:extLst>
              </p:cNvPr>
              <p:cNvSpPr txBox="1"/>
              <p:nvPr/>
            </p:nvSpPr>
            <p:spPr>
              <a:xfrm>
                <a:off x="9552269" y="1715468"/>
                <a:ext cx="144263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zh-TW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TW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p>
                      </m:sSup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9" name="文字方塊 43">
                <a:extLst>
                  <a:ext uri="{FF2B5EF4-FFF2-40B4-BE49-F238E27FC236}">
                    <a16:creationId xmlns:a16="http://schemas.microsoft.com/office/drawing/2014/main" id="{D7F1B136-2095-4E36-B7EE-E969CB087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2269" y="1715468"/>
                <a:ext cx="1442639" cy="369332"/>
              </a:xfrm>
              <a:prstGeom prst="rect">
                <a:avLst/>
              </a:prstGeom>
              <a:blipFill>
                <a:blip r:embed="rId4"/>
                <a:stretch>
                  <a:fillRect l="-2532" r="-422" b="-49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44">
                <a:extLst>
                  <a:ext uri="{FF2B5EF4-FFF2-40B4-BE49-F238E27FC236}">
                    <a16:creationId xmlns:a16="http://schemas.microsoft.com/office/drawing/2014/main" id="{3198A47D-C2F0-48A7-88F1-4F65FC680F31}"/>
                  </a:ext>
                </a:extLst>
              </p:cNvPr>
              <p:cNvSpPr txBox="1"/>
              <p:nvPr/>
            </p:nvSpPr>
            <p:spPr>
              <a:xfrm>
                <a:off x="10112935" y="5310195"/>
                <a:ext cx="135614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zh-TW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TW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TW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b="1" i="1" smtClean="0">
                          <a:latin typeface="Cambria Math" panose="02040503050406030204" pitchFamily="18" charset="0"/>
                        </a:rPr>
                        <m:t>𝒛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20" name="文字方塊 44">
                <a:extLst>
                  <a:ext uri="{FF2B5EF4-FFF2-40B4-BE49-F238E27FC236}">
                    <a16:creationId xmlns:a16="http://schemas.microsoft.com/office/drawing/2014/main" id="{3198A47D-C2F0-48A7-88F1-4F65FC680F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2935" y="5310195"/>
                <a:ext cx="1356140" cy="369332"/>
              </a:xfrm>
              <a:prstGeom prst="rect">
                <a:avLst/>
              </a:prstGeom>
              <a:blipFill>
                <a:blip r:embed="rId5"/>
                <a:stretch>
                  <a:fillRect l="-5405" r="-3153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45">
                <a:extLst>
                  <a:ext uri="{FF2B5EF4-FFF2-40B4-BE49-F238E27FC236}">
                    <a16:creationId xmlns:a16="http://schemas.microsoft.com/office/drawing/2014/main" id="{658A5786-11F5-4181-BD42-F65312EE22FD}"/>
                  </a:ext>
                </a:extLst>
              </p:cNvPr>
              <p:cNvSpPr txBox="1"/>
              <p:nvPr/>
            </p:nvSpPr>
            <p:spPr>
              <a:xfrm>
                <a:off x="470234" y="4918002"/>
                <a:ext cx="26770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zh-TW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acc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21" name="文字方塊 45">
                <a:extLst>
                  <a:ext uri="{FF2B5EF4-FFF2-40B4-BE49-F238E27FC236}">
                    <a16:creationId xmlns:a16="http://schemas.microsoft.com/office/drawing/2014/main" id="{658A5786-11F5-4181-BD42-F65312EE22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234" y="4918002"/>
                <a:ext cx="267702" cy="369332"/>
              </a:xfrm>
              <a:prstGeom prst="rect">
                <a:avLst/>
              </a:prstGeom>
              <a:blipFill>
                <a:blip r:embed="rId6"/>
                <a:stretch>
                  <a:fillRect l="-22727" t="-21667" r="-613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群組 22">
            <a:extLst>
              <a:ext uri="{FF2B5EF4-FFF2-40B4-BE49-F238E27FC236}">
                <a16:creationId xmlns:a16="http://schemas.microsoft.com/office/drawing/2014/main" id="{6A49A091-6FE4-48BF-B922-2EDC9271BCC8}"/>
              </a:ext>
            </a:extLst>
          </p:cNvPr>
          <p:cNvGrpSpPr/>
          <p:nvPr/>
        </p:nvGrpSpPr>
        <p:grpSpPr>
          <a:xfrm>
            <a:off x="8019178" y="4719112"/>
            <a:ext cx="1808622" cy="821277"/>
            <a:chOff x="1518763" y="1551301"/>
            <a:chExt cx="1963909" cy="1215754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20B4186E-345F-4720-9D98-27764EF2B6E5}"/>
                </a:ext>
              </a:extLst>
            </p:cNvPr>
            <p:cNvSpPr/>
            <p:nvPr/>
          </p:nvSpPr>
          <p:spPr>
            <a:xfrm>
              <a:off x="1518763" y="1551301"/>
              <a:ext cx="1963909" cy="12157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358EFB50-2EB4-4FBF-A0D9-0C7493131100}"/>
                </a:ext>
              </a:extLst>
            </p:cNvPr>
            <p:cNvSpPr/>
            <p:nvPr/>
          </p:nvSpPr>
          <p:spPr>
            <a:xfrm>
              <a:off x="1644108" y="1779526"/>
              <a:ext cx="1734770" cy="461665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TW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initialization</a:t>
              </a:r>
              <a:endParaRPr lang="zh-TW" altLang="en-US" sz="1600" dirty="0"/>
            </a:p>
          </p:txBody>
        </p:sp>
      </p:grp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5F8D65C4-B087-CC17-8994-736389A9EE75}"/>
              </a:ext>
            </a:extLst>
          </p:cNvPr>
          <p:cNvCxnSpPr>
            <a:cxnSpLocks/>
            <a:stCxn id="30" idx="1"/>
            <a:endCxn id="6" idx="3"/>
          </p:cNvCxnSpPr>
          <p:nvPr/>
        </p:nvCxnSpPr>
        <p:spPr>
          <a:xfrm flipH="1">
            <a:off x="7706220" y="5129751"/>
            <a:ext cx="31295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87AE064B-9CC1-F095-3CDD-07C5DF7B69B1}"/>
              </a:ext>
            </a:extLst>
          </p:cNvPr>
          <p:cNvSpPr/>
          <p:nvPr/>
        </p:nvSpPr>
        <p:spPr>
          <a:xfrm>
            <a:off x="5897598" y="4719113"/>
            <a:ext cx="1808622" cy="8212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454351F-DA69-2F3E-AE72-A490D2707F7D}"/>
              </a:ext>
            </a:extLst>
          </p:cNvPr>
          <p:cNvSpPr/>
          <p:nvPr/>
        </p:nvSpPr>
        <p:spPr>
          <a:xfrm>
            <a:off x="3776018" y="4719112"/>
            <a:ext cx="1808622" cy="8212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TW" alt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B4504B7E-AFB5-80F2-DDD8-EB7F3615E6EA}"/>
              </a:ext>
            </a:extLst>
          </p:cNvPr>
          <p:cNvSpPr txBox="1"/>
          <p:nvPr/>
        </p:nvSpPr>
        <p:spPr>
          <a:xfrm>
            <a:off x="5980870" y="4898917"/>
            <a:ext cx="2153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Bottom</a:t>
            </a:r>
            <a:r>
              <a:rPr lang="en-US" altLang="zh-TW" dirty="0"/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up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DB3D1930-8913-B5E7-19DD-5F3436DE1A68}"/>
              </a:ext>
            </a:extLst>
          </p:cNvPr>
          <p:cNvSpPr txBox="1"/>
          <p:nvPr/>
        </p:nvSpPr>
        <p:spPr>
          <a:xfrm>
            <a:off x="3997790" y="4898917"/>
            <a:ext cx="2153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Top</a:t>
            </a:r>
            <a:r>
              <a:rPr lang="en-US" altLang="zh-TW" dirty="0"/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down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68716BB5-6A78-14E9-739F-52156CECF7F9}"/>
              </a:ext>
            </a:extLst>
          </p:cNvPr>
          <p:cNvCxnSpPr>
            <a:cxnSpLocks/>
          </p:cNvCxnSpPr>
          <p:nvPr/>
        </p:nvCxnSpPr>
        <p:spPr>
          <a:xfrm flipH="1">
            <a:off x="5564814" y="5185153"/>
            <a:ext cx="343062" cy="87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A3E50551-420B-8B29-28BA-852F819EC670}"/>
              </a:ext>
            </a:extLst>
          </p:cNvPr>
          <p:cNvSpPr/>
          <p:nvPr/>
        </p:nvSpPr>
        <p:spPr>
          <a:xfrm>
            <a:off x="1638474" y="4705478"/>
            <a:ext cx="1808622" cy="8212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TW" altLang="en-US"/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BD8EFA98-B5CE-B03C-3585-5D0E7A69EB2E}"/>
              </a:ext>
            </a:extLst>
          </p:cNvPr>
          <p:cNvSpPr txBox="1"/>
          <p:nvPr/>
        </p:nvSpPr>
        <p:spPr>
          <a:xfrm>
            <a:off x="1857074" y="4695758"/>
            <a:ext cx="26448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Calculate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syndrome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83" name="直線單箭頭接點 82">
            <a:extLst>
              <a:ext uri="{FF2B5EF4-FFF2-40B4-BE49-F238E27FC236}">
                <a16:creationId xmlns:a16="http://schemas.microsoft.com/office/drawing/2014/main" id="{13983FD8-598A-6FBC-9F70-BA318FE5062C}"/>
              </a:ext>
            </a:extLst>
          </p:cNvPr>
          <p:cNvCxnSpPr>
            <a:cxnSpLocks/>
          </p:cNvCxnSpPr>
          <p:nvPr/>
        </p:nvCxnSpPr>
        <p:spPr>
          <a:xfrm flipH="1">
            <a:off x="3447096" y="5125837"/>
            <a:ext cx="31295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>
            <a:extLst>
              <a:ext uri="{FF2B5EF4-FFF2-40B4-BE49-F238E27FC236}">
                <a16:creationId xmlns:a16="http://schemas.microsoft.com/office/drawing/2014/main" id="{4B4A2EB3-B4DA-0D6D-216C-246DBF213C20}"/>
              </a:ext>
            </a:extLst>
          </p:cNvPr>
          <p:cNvCxnSpPr/>
          <p:nvPr/>
        </p:nvCxnSpPr>
        <p:spPr>
          <a:xfrm flipV="1">
            <a:off x="1484403" y="4070763"/>
            <a:ext cx="0" cy="10550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直線接點 91">
            <a:extLst>
              <a:ext uri="{FF2B5EF4-FFF2-40B4-BE49-F238E27FC236}">
                <a16:creationId xmlns:a16="http://schemas.microsoft.com/office/drawing/2014/main" id="{900ED0C6-2B32-D5E0-F2A1-A19A2D05F016}"/>
              </a:ext>
            </a:extLst>
          </p:cNvPr>
          <p:cNvCxnSpPr/>
          <p:nvPr/>
        </p:nvCxnSpPr>
        <p:spPr>
          <a:xfrm>
            <a:off x="1474839" y="4056182"/>
            <a:ext cx="63878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直線單箭頭接點 93">
            <a:extLst>
              <a:ext uri="{FF2B5EF4-FFF2-40B4-BE49-F238E27FC236}">
                <a16:creationId xmlns:a16="http://schemas.microsoft.com/office/drawing/2014/main" id="{D51585AE-561D-0CFB-06CD-5EAE02000CA7}"/>
              </a:ext>
            </a:extLst>
          </p:cNvPr>
          <p:cNvCxnSpPr/>
          <p:nvPr/>
        </p:nvCxnSpPr>
        <p:spPr>
          <a:xfrm>
            <a:off x="7879215" y="4056182"/>
            <a:ext cx="9849" cy="10696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D03BD52F-7142-9219-3299-C29004D038FB}"/>
              </a:ext>
            </a:extLst>
          </p:cNvPr>
          <p:cNvSpPr txBox="1"/>
          <p:nvPr/>
        </p:nvSpPr>
        <p:spPr>
          <a:xfrm>
            <a:off x="1535497" y="3594517"/>
            <a:ext cx="1173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False</a:t>
            </a:r>
            <a:endParaRPr lang="zh-TW" altLang="en-US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652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E1D22-1EE5-76DB-33B3-BCD42D9EE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2D839AFB-FF49-9053-58DA-9DC61B9C3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479" y="896714"/>
            <a:ext cx="3018672" cy="5718151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C25C4569-6F27-9DC7-7456-FA2B23CAB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87" y="0"/>
            <a:ext cx="10446604" cy="1085418"/>
          </a:xfrm>
        </p:spPr>
        <p:txBody>
          <a:bodyPr/>
          <a:lstStyle/>
          <a:p>
            <a:r>
              <a:rPr lang="en-US" altLang="zh-TW" dirty="0"/>
              <a:t>Flow Chart ( for SPA and  MSA 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C83A98C5-E744-DA99-5273-89D7EC37C272}"/>
                  </a:ext>
                </a:extLst>
              </p:cNvPr>
              <p:cNvSpPr txBox="1"/>
              <p:nvPr/>
            </p:nvSpPr>
            <p:spPr>
              <a:xfrm>
                <a:off x="6747151" y="4901532"/>
                <a:ext cx="6096000" cy="15921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0" indent="-342900">
                  <a:buFont typeface="Arial" panose="020B0604020202020204" pitchFamily="34" charset="0"/>
                  <a:buChar char="•"/>
                  <a:tabLst>
                    <a:tab pos="457200" algn="l"/>
                  </a:tabLst>
                </a:pPr>
                <a:r>
                  <a:rPr lang="en-US" altLang="zh-TW" sz="1800" kern="100" dirty="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Min-Sum Algorithm(MSA)</a:t>
                </a:r>
                <a:r>
                  <a:rPr lang="en-US" altLang="zh-TW" kern="100" dirty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                                 </a:t>
                </a:r>
                <a14:m>
                  <m:oMath xmlns:m="http://schemas.openxmlformats.org/officeDocument/2006/math">
                    <m:r>
                      <a:rPr lang="en-US" altLang="zh-TW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𝐶𝐻𝐾</m:t>
                    </m:r>
                    <m:d>
                      <m:dPr>
                        <m:ctrlPr>
                          <a:rPr lang="zh-TW" altLang="zh-TW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zh-TW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b="0" i="1" kern="100" smtClean="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TW" sz="18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,</m:t>
                        </m:r>
                        <m:sSub>
                          <m:sSubPr>
                            <m:ctrlPr>
                              <a:rPr lang="zh-TW" altLang="zh-TW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TW" sz="18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TW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=</m:t>
                    </m:r>
                    <m:func>
                      <m:funcPr>
                        <m:ctrlPr>
                          <a:rPr lang="zh-TW" altLang="zh-TW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1800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sgn</m:t>
                        </m:r>
                      </m:fName>
                      <m:e>
                        <m:d>
                          <m:dPr>
                            <m:ctrlPr>
                              <a:rPr lang="zh-TW" altLang="zh-TW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TW" altLang="zh-TW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 kern="10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altLang="zh-TW" sz="1800" i="1" kern="100"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  <m:func>
                      <m:funcPr>
                        <m:ctrlPr>
                          <a:rPr lang="zh-TW" altLang="zh-TW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1800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sgn</m:t>
                        </m:r>
                      </m:fName>
                      <m:e>
                        <m:d>
                          <m:dPr>
                            <m:ctrlPr>
                              <a:rPr lang="zh-TW" altLang="zh-TW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TW" altLang="zh-TW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 kern="10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altLang="zh-TW" sz="1800" i="1" kern="100"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func>
                    <m:func>
                      <m:funcPr>
                        <m:ctrlPr>
                          <a:rPr lang="en-US" altLang="zh-TW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1800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altLang="zh-TW" sz="18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zh-TW" altLang="zh-TW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TW" altLang="zh-TW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 kern="10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altLang="zh-TW" sz="1800" i="1" kern="100"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TW" sz="18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</a:rPr>
                              <m:t>,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zh-TW" altLang="zh-TW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TW" altLang="zh-TW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 kern="10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altLang="zh-TW" sz="1800" i="1" kern="100"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altLang="zh-TW" sz="1800" kern="100" dirty="0">
                  <a:effectLst/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  <a:tabLst>
                    <a:tab pos="457200" algn="l"/>
                  </a:tabLst>
                </a:pPr>
                <a:endParaRPr lang="zh-TW" altLang="zh-TW" sz="1800" kern="100" dirty="0">
                  <a:effectLst/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  <a:tabLst>
                    <a:tab pos="457200" algn="l"/>
                  </a:tabLst>
                </a:pPr>
                <a:r>
                  <a:rPr lang="en-US" altLang="zh-TW" sz="1800" kern="100" dirty="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Sum-Product Algorithm(SPA)</a:t>
                </a:r>
                <a:r>
                  <a:rPr lang="en-US" altLang="zh-TW" kern="100" dirty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                                </a:t>
                </a:r>
                <a14:m>
                  <m:oMath xmlns:m="http://schemas.openxmlformats.org/officeDocument/2006/math">
                    <m:r>
                      <a:rPr lang="en-US" altLang="zh-TW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𝐶𝐻𝐾</m:t>
                    </m:r>
                    <m:d>
                      <m:dPr>
                        <m:ctrlPr>
                          <a:rPr lang="zh-TW" altLang="zh-TW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zh-TW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TW" sz="18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,</m:t>
                        </m:r>
                        <m:sSub>
                          <m:sSubPr>
                            <m:ctrlPr>
                              <a:rPr lang="zh-TW" altLang="zh-TW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kern="10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TW" sz="18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TW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=</m:t>
                    </m:r>
                    <m:r>
                      <a:rPr lang="en-US" altLang="zh-TW" sz="1800" b="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2∗</m:t>
                    </m:r>
                    <m:r>
                      <m:rPr>
                        <m:sty m:val="p"/>
                      </m:rPr>
                      <a:rPr lang="en-US" altLang="zh-TW" sz="1800" b="0" i="0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tanh</m:t>
                    </m:r>
                    <m:r>
                      <m:rPr>
                        <m:nor/>
                      </m:rPr>
                      <a:rPr lang="en-US" altLang="zh-TW"/>
                      <m:t>^−1</m:t>
                    </m:r>
                    <m:r>
                      <a:rPr lang="en-US" altLang="zh-TW" sz="1800" b="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⁡ (</m:t>
                    </m:r>
                    <m:r>
                      <m:rPr>
                        <m:sty m:val="p"/>
                      </m:rPr>
                      <a:rPr lang="en-US" altLang="zh-TW" sz="1800" b="0" i="0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tanh</m:t>
                    </m:r>
                    <m:r>
                      <a:rPr lang="en-US" altLang="zh-TW" sz="1800" b="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⁡(</m:t>
                    </m:r>
                    <m:f>
                      <m:fPr>
                        <m:ctrlPr>
                          <a:rPr lang="en-US" altLang="zh-TW" sz="18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</m:ctrlPr>
                      </m:fPr>
                      <m:num>
                        <m:r>
                          <a:rPr lang="en-US" altLang="zh-TW" sz="18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𝐿</m:t>
                        </m:r>
                        <m:r>
                          <a:rPr lang="en-US" altLang="zh-TW" sz="18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1</m:t>
                        </m:r>
                      </m:num>
                      <m:den>
                        <m:r>
                          <a:rPr lang="en-US" altLang="zh-TW" sz="18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2</m:t>
                        </m:r>
                      </m:den>
                    </m:f>
                    <m:r>
                      <a:rPr lang="en-US" altLang="zh-TW" sz="1800" b="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</a:rPr>
                      <m:t>)</m:t>
                    </m:r>
                  </m:oMath>
                </a14:m>
                <a:r>
                  <a:rPr lang="en-US" altLang="zh-TW" kern="100" dirty="0"/>
                  <a:t> *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kern="100">
                        <a:latin typeface="Cambria Math" panose="02040503050406030204" pitchFamily="18" charset="0"/>
                      </a:rPr>
                      <m:t>tanh</m:t>
                    </m:r>
                    <m:r>
                      <a:rPr lang="en-US" altLang="zh-TW" i="1" kern="100">
                        <a:latin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en-US" altLang="zh-TW" i="1" kern="10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 kern="10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TW" b="0" i="1" kern="10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TW" i="1" kern="1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TW" i="1" kern="1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1800" kern="100" dirty="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)</a:t>
                </a:r>
                <a:endParaRPr lang="zh-TW" altLang="zh-TW" sz="1800" kern="100" dirty="0">
                  <a:effectLst/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C83A98C5-E744-DA99-5273-89D7EC37C2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7151" y="4901532"/>
                <a:ext cx="6096000" cy="1592167"/>
              </a:xfrm>
              <a:prstGeom prst="rect">
                <a:avLst/>
              </a:prstGeom>
              <a:blipFill>
                <a:blip r:embed="rId3"/>
                <a:stretch>
                  <a:fillRect l="-700" t="-1916" b="-229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1747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B5AAA-1806-E8D1-2068-ACA0123CA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4D7E6F5F-602D-5A66-0A45-62BADC60A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824" y="542709"/>
            <a:ext cx="2919626" cy="6012064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EAA4FC8-C994-2FF1-9853-3BA1835F0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87" y="0"/>
            <a:ext cx="10446604" cy="1085418"/>
          </a:xfrm>
        </p:spPr>
        <p:txBody>
          <a:bodyPr/>
          <a:lstStyle/>
          <a:p>
            <a:r>
              <a:rPr lang="en-US" altLang="zh-TW" dirty="0"/>
              <a:t>Flow Chart ( for BF 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31157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E1630-4D16-0AFB-920B-4CBCA9F5B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F6D98E-E2AB-D188-6B0C-297645F47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399" y="244387"/>
            <a:ext cx="10515600" cy="1325563"/>
          </a:xfrm>
        </p:spPr>
        <p:txBody>
          <a:bodyPr/>
          <a:lstStyle/>
          <a:p>
            <a:r>
              <a:rPr lang="en-US" altLang="zh-TW" dirty="0"/>
              <a:t>Data ( for SPA )</a:t>
            </a:r>
            <a:endParaRPr lang="zh-TW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7A1A54D-29A5-FB38-D503-1CFB5B2913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15415"/>
              </p:ext>
            </p:extLst>
          </p:nvPr>
        </p:nvGraphicFramePr>
        <p:xfrm>
          <a:off x="508201" y="2645230"/>
          <a:ext cx="10154884" cy="14628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9076">
                  <a:extLst>
                    <a:ext uri="{9D8B030D-6E8A-4147-A177-3AD203B41FA5}">
                      <a16:colId xmlns:a16="http://schemas.microsoft.com/office/drawing/2014/main" val="3392057462"/>
                    </a:ext>
                  </a:extLst>
                </a:gridCol>
                <a:gridCol w="1108226">
                  <a:extLst>
                    <a:ext uri="{9D8B030D-6E8A-4147-A177-3AD203B41FA5}">
                      <a16:colId xmlns:a16="http://schemas.microsoft.com/office/drawing/2014/main" val="3878549972"/>
                    </a:ext>
                  </a:extLst>
                </a:gridCol>
                <a:gridCol w="1108226">
                  <a:extLst>
                    <a:ext uri="{9D8B030D-6E8A-4147-A177-3AD203B41FA5}">
                      <a16:colId xmlns:a16="http://schemas.microsoft.com/office/drawing/2014/main" val="2809227672"/>
                    </a:ext>
                  </a:extLst>
                </a:gridCol>
                <a:gridCol w="1108226">
                  <a:extLst>
                    <a:ext uri="{9D8B030D-6E8A-4147-A177-3AD203B41FA5}">
                      <a16:colId xmlns:a16="http://schemas.microsoft.com/office/drawing/2014/main" val="3089717150"/>
                    </a:ext>
                  </a:extLst>
                </a:gridCol>
                <a:gridCol w="1108226">
                  <a:extLst>
                    <a:ext uri="{9D8B030D-6E8A-4147-A177-3AD203B41FA5}">
                      <a16:colId xmlns:a16="http://schemas.microsoft.com/office/drawing/2014/main" val="3141650732"/>
                    </a:ext>
                  </a:extLst>
                </a:gridCol>
                <a:gridCol w="1108226">
                  <a:extLst>
                    <a:ext uri="{9D8B030D-6E8A-4147-A177-3AD203B41FA5}">
                      <a16:colId xmlns:a16="http://schemas.microsoft.com/office/drawing/2014/main" val="1017660965"/>
                    </a:ext>
                  </a:extLst>
                </a:gridCol>
                <a:gridCol w="1108226">
                  <a:extLst>
                    <a:ext uri="{9D8B030D-6E8A-4147-A177-3AD203B41FA5}">
                      <a16:colId xmlns:a16="http://schemas.microsoft.com/office/drawing/2014/main" val="2506852198"/>
                    </a:ext>
                  </a:extLst>
                </a:gridCol>
                <a:gridCol w="1108226">
                  <a:extLst>
                    <a:ext uri="{9D8B030D-6E8A-4147-A177-3AD203B41FA5}">
                      <a16:colId xmlns:a16="http://schemas.microsoft.com/office/drawing/2014/main" val="3501738072"/>
                    </a:ext>
                  </a:extLst>
                </a:gridCol>
                <a:gridCol w="1108226">
                  <a:extLst>
                    <a:ext uri="{9D8B030D-6E8A-4147-A177-3AD203B41FA5}">
                      <a16:colId xmlns:a16="http://schemas.microsoft.com/office/drawing/2014/main" val="3394600512"/>
                    </a:ext>
                  </a:extLst>
                </a:gridCol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SNR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1.0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1.4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1.8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2.2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2.4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2.6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2.8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3.0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6215030"/>
                  </a:ext>
                </a:extLst>
              </a:tr>
              <a:tr h="2966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/>
                        <a:t>Decoded Block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566971"/>
                  </a:ext>
                </a:extLst>
              </a:tr>
              <a:tr h="296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BER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0.082177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0.072036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0.058387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0.03842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0.023735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0.011544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0.004988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0.001352</a:t>
                      </a:r>
                      <a:endParaRPr lang="zh-TW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821917"/>
                  </a:ext>
                </a:extLst>
              </a:tr>
              <a:tr h="296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BLER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1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1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0.93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0.684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0.437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0.216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0.025</a:t>
                      </a:r>
                      <a:endParaRPr lang="zh-TW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7898370"/>
                  </a:ext>
                </a:extLst>
              </a:tr>
              <a:tr h="2966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/>
                        <a:t>Average iteration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100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100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93.68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71.438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48.757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27.555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15.166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7.513</a:t>
                      </a:r>
                      <a:endParaRPr lang="zh-TW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67814"/>
                  </a:ext>
                </a:extLst>
              </a:tr>
            </a:tbl>
          </a:graphicData>
        </a:graphic>
      </p:graphicFrame>
      <p:graphicFrame>
        <p:nvGraphicFramePr>
          <p:cNvPr id="5" name="內容版面配置區 3">
            <a:extLst>
              <a:ext uri="{FF2B5EF4-FFF2-40B4-BE49-F238E27FC236}">
                <a16:creationId xmlns:a16="http://schemas.microsoft.com/office/drawing/2014/main" id="{BABA3E76-56FF-5F23-8C05-9CE1FB3445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5010947"/>
              </p:ext>
            </p:extLst>
          </p:nvPr>
        </p:nvGraphicFramePr>
        <p:xfrm>
          <a:off x="508201" y="1396348"/>
          <a:ext cx="1876511" cy="962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995">
                  <a:extLst>
                    <a:ext uri="{9D8B030D-6E8A-4147-A177-3AD203B41FA5}">
                      <a16:colId xmlns:a16="http://schemas.microsoft.com/office/drawing/2014/main" val="85924523"/>
                    </a:ext>
                  </a:extLst>
                </a:gridCol>
                <a:gridCol w="973516">
                  <a:extLst>
                    <a:ext uri="{9D8B030D-6E8A-4147-A177-3AD203B41FA5}">
                      <a16:colId xmlns:a16="http://schemas.microsoft.com/office/drawing/2014/main" val="3044093286"/>
                    </a:ext>
                  </a:extLst>
                </a:gridCol>
              </a:tblGrid>
              <a:tr h="444403"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Parameter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Value</a:t>
                      </a:r>
                      <a:endParaRPr lang="zh-TW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641722"/>
                  </a:ext>
                </a:extLst>
              </a:tr>
              <a:tr h="2542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/>
                        <a:t>iteration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100</a:t>
                      </a:r>
                      <a:endParaRPr lang="zh-TW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430787"/>
                  </a:ext>
                </a:extLst>
              </a:tr>
              <a:tr h="254224"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Seed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-2024</a:t>
                      </a:r>
                      <a:endParaRPr lang="zh-TW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812483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46EC3DC-0313-ECAD-F3AD-EFCD01DCD0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175814"/>
              </p:ext>
            </p:extLst>
          </p:nvPr>
        </p:nvGraphicFramePr>
        <p:xfrm>
          <a:off x="508201" y="4654550"/>
          <a:ext cx="7939112" cy="17897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9186">
                  <a:extLst>
                    <a:ext uri="{9D8B030D-6E8A-4147-A177-3AD203B41FA5}">
                      <a16:colId xmlns:a16="http://schemas.microsoft.com/office/drawing/2014/main" val="3399856777"/>
                    </a:ext>
                  </a:extLst>
                </a:gridCol>
                <a:gridCol w="1108321">
                  <a:extLst>
                    <a:ext uri="{9D8B030D-6E8A-4147-A177-3AD203B41FA5}">
                      <a16:colId xmlns:a16="http://schemas.microsoft.com/office/drawing/2014/main" val="299866157"/>
                    </a:ext>
                  </a:extLst>
                </a:gridCol>
                <a:gridCol w="1108321">
                  <a:extLst>
                    <a:ext uri="{9D8B030D-6E8A-4147-A177-3AD203B41FA5}">
                      <a16:colId xmlns:a16="http://schemas.microsoft.com/office/drawing/2014/main" val="3188376809"/>
                    </a:ext>
                  </a:extLst>
                </a:gridCol>
                <a:gridCol w="1108321">
                  <a:extLst>
                    <a:ext uri="{9D8B030D-6E8A-4147-A177-3AD203B41FA5}">
                      <a16:colId xmlns:a16="http://schemas.microsoft.com/office/drawing/2014/main" val="2900656799"/>
                    </a:ext>
                  </a:extLst>
                </a:gridCol>
                <a:gridCol w="1108321">
                  <a:extLst>
                    <a:ext uri="{9D8B030D-6E8A-4147-A177-3AD203B41FA5}">
                      <a16:colId xmlns:a16="http://schemas.microsoft.com/office/drawing/2014/main" val="4251067521"/>
                    </a:ext>
                  </a:extLst>
                </a:gridCol>
                <a:gridCol w="1108321">
                  <a:extLst>
                    <a:ext uri="{9D8B030D-6E8A-4147-A177-3AD203B41FA5}">
                      <a16:colId xmlns:a16="http://schemas.microsoft.com/office/drawing/2014/main" val="571403451"/>
                    </a:ext>
                  </a:extLst>
                </a:gridCol>
                <a:gridCol w="1108321">
                  <a:extLst>
                    <a:ext uri="{9D8B030D-6E8A-4147-A177-3AD203B41FA5}">
                      <a16:colId xmlns:a16="http://schemas.microsoft.com/office/drawing/2014/main" val="1826480747"/>
                    </a:ext>
                  </a:extLst>
                </a:gridCol>
              </a:tblGrid>
              <a:tr h="2869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SNR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3.2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3.4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3.8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4.0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4.2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4.4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778670"/>
                  </a:ext>
                </a:extLst>
              </a:tr>
              <a:tr h="4432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/>
                        <a:t>Decoded Block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169648"/>
                  </a:ext>
                </a:extLst>
              </a:tr>
              <a:tr h="3081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BER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0.000411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0.000062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0.000004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</a:t>
                      </a:r>
                      <a:endParaRPr lang="zh-TW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023924"/>
                  </a:ext>
                </a:extLst>
              </a:tr>
              <a:tr h="3081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BLER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0.007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0.0011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0.0001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</a:t>
                      </a:r>
                      <a:endParaRPr lang="zh-TW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40906"/>
                  </a:ext>
                </a:extLst>
              </a:tr>
              <a:tr h="4432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/>
                        <a:t>Average iteration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4.091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2.701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1.9844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1.784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/>
                        <a:t>1.5815</a:t>
                      </a:r>
                      <a:endParaRPr lang="zh-TW" altLang="en-US" sz="1100" dirty="0"/>
                    </a:p>
                    <a:p>
                      <a:pPr algn="ctr"/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1.3596</a:t>
                      </a:r>
                      <a:endParaRPr lang="zh-TW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960211"/>
                  </a:ext>
                </a:extLst>
              </a:tr>
            </a:tbl>
          </a:graphicData>
        </a:graphic>
      </p:graphicFrame>
      <p:pic>
        <p:nvPicPr>
          <p:cNvPr id="10" name="圖片 9">
            <a:extLst>
              <a:ext uri="{FF2B5EF4-FFF2-40B4-BE49-F238E27FC236}">
                <a16:creationId xmlns:a16="http://schemas.microsoft.com/office/drawing/2014/main" id="{87E8AE9D-2C14-4E90-670C-73388CCCF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7685" y="1198693"/>
            <a:ext cx="4835400" cy="1044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091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4C957-F28D-27D3-389B-65590E047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8F5B4C-9890-BB93-96E9-99186813D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Simulation Diagram ( for SPA )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8E642AB-4820-B505-B47B-22ED9C3461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25" r="247"/>
          <a:stretch/>
        </p:blipFill>
        <p:spPr>
          <a:xfrm>
            <a:off x="3323948" y="1690688"/>
            <a:ext cx="5233679" cy="410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777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B68EC-9707-8F70-D54B-43964B74D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747C87-AC5B-8912-9B01-323F06874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613" y="239166"/>
            <a:ext cx="10515600" cy="1325563"/>
          </a:xfrm>
        </p:spPr>
        <p:txBody>
          <a:bodyPr/>
          <a:lstStyle/>
          <a:p>
            <a:r>
              <a:rPr lang="en-US" altLang="zh-TW" dirty="0"/>
              <a:t>Data ( for MSA )</a:t>
            </a:r>
            <a:endParaRPr lang="zh-TW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D5D26B8-3DCC-0AE6-C818-C95B51BF3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43056"/>
              </p:ext>
            </p:extLst>
          </p:nvPr>
        </p:nvGraphicFramePr>
        <p:xfrm>
          <a:off x="508200" y="2603114"/>
          <a:ext cx="10030035" cy="1507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3227">
                  <a:extLst>
                    <a:ext uri="{9D8B030D-6E8A-4147-A177-3AD203B41FA5}">
                      <a16:colId xmlns:a16="http://schemas.microsoft.com/office/drawing/2014/main" val="3392057462"/>
                    </a:ext>
                  </a:extLst>
                </a:gridCol>
                <a:gridCol w="1094601">
                  <a:extLst>
                    <a:ext uri="{9D8B030D-6E8A-4147-A177-3AD203B41FA5}">
                      <a16:colId xmlns:a16="http://schemas.microsoft.com/office/drawing/2014/main" val="3878549972"/>
                    </a:ext>
                  </a:extLst>
                </a:gridCol>
                <a:gridCol w="1094601">
                  <a:extLst>
                    <a:ext uri="{9D8B030D-6E8A-4147-A177-3AD203B41FA5}">
                      <a16:colId xmlns:a16="http://schemas.microsoft.com/office/drawing/2014/main" val="2809227672"/>
                    </a:ext>
                  </a:extLst>
                </a:gridCol>
                <a:gridCol w="1094601">
                  <a:extLst>
                    <a:ext uri="{9D8B030D-6E8A-4147-A177-3AD203B41FA5}">
                      <a16:colId xmlns:a16="http://schemas.microsoft.com/office/drawing/2014/main" val="3089717150"/>
                    </a:ext>
                  </a:extLst>
                </a:gridCol>
                <a:gridCol w="1094601">
                  <a:extLst>
                    <a:ext uri="{9D8B030D-6E8A-4147-A177-3AD203B41FA5}">
                      <a16:colId xmlns:a16="http://schemas.microsoft.com/office/drawing/2014/main" val="3141650732"/>
                    </a:ext>
                  </a:extLst>
                </a:gridCol>
                <a:gridCol w="1094601">
                  <a:extLst>
                    <a:ext uri="{9D8B030D-6E8A-4147-A177-3AD203B41FA5}">
                      <a16:colId xmlns:a16="http://schemas.microsoft.com/office/drawing/2014/main" val="1017660965"/>
                    </a:ext>
                  </a:extLst>
                </a:gridCol>
                <a:gridCol w="1094601">
                  <a:extLst>
                    <a:ext uri="{9D8B030D-6E8A-4147-A177-3AD203B41FA5}">
                      <a16:colId xmlns:a16="http://schemas.microsoft.com/office/drawing/2014/main" val="2506852198"/>
                    </a:ext>
                  </a:extLst>
                </a:gridCol>
                <a:gridCol w="1094601">
                  <a:extLst>
                    <a:ext uri="{9D8B030D-6E8A-4147-A177-3AD203B41FA5}">
                      <a16:colId xmlns:a16="http://schemas.microsoft.com/office/drawing/2014/main" val="3501738072"/>
                    </a:ext>
                  </a:extLst>
                </a:gridCol>
                <a:gridCol w="1094601">
                  <a:extLst>
                    <a:ext uri="{9D8B030D-6E8A-4147-A177-3AD203B41FA5}">
                      <a16:colId xmlns:a16="http://schemas.microsoft.com/office/drawing/2014/main" val="3394600512"/>
                    </a:ext>
                  </a:extLst>
                </a:gridCol>
              </a:tblGrid>
              <a:tr h="2845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SNR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1.0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1.4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1.8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2.2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2.4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2.6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2.8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3.0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6215030"/>
                  </a:ext>
                </a:extLst>
              </a:tr>
              <a:tr h="3056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/>
                        <a:t>Decoded Block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566971"/>
                  </a:ext>
                </a:extLst>
              </a:tr>
              <a:tr h="305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BER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0.125198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0.124699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0.117183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0.111471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0.10883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0.104702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0.099237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0.090312</a:t>
                      </a:r>
                      <a:endParaRPr lang="zh-TW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821917"/>
                  </a:ext>
                </a:extLst>
              </a:tr>
              <a:tr h="3056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BLER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1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1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1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1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0.997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0.987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0.882</a:t>
                      </a:r>
                      <a:endParaRPr lang="zh-TW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7898370"/>
                  </a:ext>
                </a:extLst>
              </a:tr>
              <a:tr h="3056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/>
                        <a:t>Average iteration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100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100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100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100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99.709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98.739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96.109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88.523</a:t>
                      </a:r>
                      <a:endParaRPr lang="zh-TW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0366447"/>
                  </a:ext>
                </a:extLst>
              </a:tr>
            </a:tbl>
          </a:graphicData>
        </a:graphic>
      </p:graphicFrame>
      <p:graphicFrame>
        <p:nvGraphicFramePr>
          <p:cNvPr id="5" name="內容版面配置區 3">
            <a:extLst>
              <a:ext uri="{FF2B5EF4-FFF2-40B4-BE49-F238E27FC236}">
                <a16:creationId xmlns:a16="http://schemas.microsoft.com/office/drawing/2014/main" id="{AD85BEAE-ACD1-6617-7742-A78C8E678B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5931745"/>
              </p:ext>
            </p:extLst>
          </p:nvPr>
        </p:nvGraphicFramePr>
        <p:xfrm>
          <a:off x="508201" y="1373970"/>
          <a:ext cx="1876511" cy="962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995">
                  <a:extLst>
                    <a:ext uri="{9D8B030D-6E8A-4147-A177-3AD203B41FA5}">
                      <a16:colId xmlns:a16="http://schemas.microsoft.com/office/drawing/2014/main" val="85924523"/>
                    </a:ext>
                  </a:extLst>
                </a:gridCol>
                <a:gridCol w="973516">
                  <a:extLst>
                    <a:ext uri="{9D8B030D-6E8A-4147-A177-3AD203B41FA5}">
                      <a16:colId xmlns:a16="http://schemas.microsoft.com/office/drawing/2014/main" val="3044093286"/>
                    </a:ext>
                  </a:extLst>
                </a:gridCol>
              </a:tblGrid>
              <a:tr h="444403"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Parameter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Value</a:t>
                      </a:r>
                      <a:endParaRPr lang="zh-TW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641722"/>
                  </a:ext>
                </a:extLst>
              </a:tr>
              <a:tr h="2542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/>
                        <a:t>iteration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100</a:t>
                      </a:r>
                      <a:endParaRPr lang="zh-TW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430787"/>
                  </a:ext>
                </a:extLst>
              </a:tr>
              <a:tr h="254224"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Seed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-2024</a:t>
                      </a:r>
                      <a:endParaRPr lang="zh-TW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812483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6D94B9EF-A473-653F-6C49-9D43FB6165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402673"/>
              </p:ext>
            </p:extLst>
          </p:nvPr>
        </p:nvGraphicFramePr>
        <p:xfrm>
          <a:off x="508200" y="4460950"/>
          <a:ext cx="7866255" cy="17587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7355">
                  <a:extLst>
                    <a:ext uri="{9D8B030D-6E8A-4147-A177-3AD203B41FA5}">
                      <a16:colId xmlns:a16="http://schemas.microsoft.com/office/drawing/2014/main" val="3399856777"/>
                    </a:ext>
                  </a:extLst>
                </a:gridCol>
                <a:gridCol w="1098150">
                  <a:extLst>
                    <a:ext uri="{9D8B030D-6E8A-4147-A177-3AD203B41FA5}">
                      <a16:colId xmlns:a16="http://schemas.microsoft.com/office/drawing/2014/main" val="299866157"/>
                    </a:ext>
                  </a:extLst>
                </a:gridCol>
                <a:gridCol w="1098150">
                  <a:extLst>
                    <a:ext uri="{9D8B030D-6E8A-4147-A177-3AD203B41FA5}">
                      <a16:colId xmlns:a16="http://schemas.microsoft.com/office/drawing/2014/main" val="3188376809"/>
                    </a:ext>
                  </a:extLst>
                </a:gridCol>
                <a:gridCol w="1098150">
                  <a:extLst>
                    <a:ext uri="{9D8B030D-6E8A-4147-A177-3AD203B41FA5}">
                      <a16:colId xmlns:a16="http://schemas.microsoft.com/office/drawing/2014/main" val="2900656799"/>
                    </a:ext>
                  </a:extLst>
                </a:gridCol>
                <a:gridCol w="1098150">
                  <a:extLst>
                    <a:ext uri="{9D8B030D-6E8A-4147-A177-3AD203B41FA5}">
                      <a16:colId xmlns:a16="http://schemas.microsoft.com/office/drawing/2014/main" val="4251067521"/>
                    </a:ext>
                  </a:extLst>
                </a:gridCol>
                <a:gridCol w="1098150">
                  <a:extLst>
                    <a:ext uri="{9D8B030D-6E8A-4147-A177-3AD203B41FA5}">
                      <a16:colId xmlns:a16="http://schemas.microsoft.com/office/drawing/2014/main" val="571403451"/>
                    </a:ext>
                  </a:extLst>
                </a:gridCol>
                <a:gridCol w="1098150">
                  <a:extLst>
                    <a:ext uri="{9D8B030D-6E8A-4147-A177-3AD203B41FA5}">
                      <a16:colId xmlns:a16="http://schemas.microsoft.com/office/drawing/2014/main" val="1826480747"/>
                    </a:ext>
                  </a:extLst>
                </a:gridCol>
              </a:tblGrid>
              <a:tr h="2819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SNR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3.2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3.4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3.8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4.0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4.2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4.4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778670"/>
                  </a:ext>
                </a:extLst>
              </a:tr>
              <a:tr h="4355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/>
                        <a:t>Decoded Block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169648"/>
                  </a:ext>
                </a:extLst>
              </a:tr>
              <a:tr h="3028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BER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0.073014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0.050811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0.011861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0.003807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0.000919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0.000098</a:t>
                      </a:r>
                      <a:endParaRPr lang="zh-TW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023924"/>
                  </a:ext>
                </a:extLst>
              </a:tr>
              <a:tr h="3028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BLER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0.731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0.514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0.1228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0.0398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0.0096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0.001</a:t>
                      </a:r>
                      <a:endParaRPr lang="zh-TW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40906"/>
                  </a:ext>
                </a:extLst>
              </a:tr>
              <a:tr h="4355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/>
                        <a:t>Average iteration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73.797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52.586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14.0989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5.7704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2.5871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1.5069</a:t>
                      </a:r>
                      <a:endParaRPr lang="zh-TW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78153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FF041A42-D00A-6368-1B44-3F234A159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941" y="1691162"/>
            <a:ext cx="4784294" cy="605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347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E30F0-6798-12B3-782B-A1D8329E0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0F792C-7D98-5AA2-3B9C-F4117C893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Simulation Diagram ( for MSA )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E65E96A-37AF-129F-87B0-A4D8269EE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165" y="1472974"/>
            <a:ext cx="6493354" cy="501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926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A5CA9-0348-E0BD-326B-1778204AE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769C8D-1D1D-C86A-55CD-11F3113B6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Simulation Diagram </a:t>
            </a:r>
            <a:br>
              <a:rPr lang="en-US" altLang="zh-TW" dirty="0"/>
            </a:br>
            <a:r>
              <a:rPr lang="en-US" altLang="zh-TW" dirty="0"/>
              <a:t>( BER : SPA compare MSA )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DFF4D16-D68D-81DE-6F29-ACE09F019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180" y="1690688"/>
            <a:ext cx="5839640" cy="481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249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DE21F-3785-E681-B6BA-7E0B31C86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845077-C4D7-EE22-2735-08D825C91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Simulation Diagram </a:t>
            </a:r>
            <a:br>
              <a:rPr lang="en-US" altLang="zh-TW" dirty="0"/>
            </a:br>
            <a:r>
              <a:rPr lang="en-US" altLang="zh-TW" dirty="0"/>
              <a:t>( BER : SPA compare MSA )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41C8518-BB49-DA69-F190-6DB2D2AE3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349" y="1729710"/>
            <a:ext cx="6139276" cy="494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458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3CAA0-DCFB-7BA9-1A20-C34B59570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7103D6-C880-01E8-6700-14914F6DF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36" y="376675"/>
            <a:ext cx="10515600" cy="1325563"/>
          </a:xfrm>
        </p:spPr>
        <p:txBody>
          <a:bodyPr/>
          <a:lstStyle/>
          <a:p>
            <a:r>
              <a:rPr lang="en-US" altLang="zh-TW" dirty="0"/>
              <a:t>Data ( BF with different iteration )</a:t>
            </a:r>
            <a:endParaRPr lang="zh-TW" altLang="en-US" dirty="0"/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61EB83AD-E09B-80BB-06E5-8BAC35B7A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500136"/>
              </p:ext>
            </p:extLst>
          </p:nvPr>
        </p:nvGraphicFramePr>
        <p:xfrm>
          <a:off x="339436" y="1567502"/>
          <a:ext cx="1876511" cy="7034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995">
                  <a:extLst>
                    <a:ext uri="{9D8B030D-6E8A-4147-A177-3AD203B41FA5}">
                      <a16:colId xmlns:a16="http://schemas.microsoft.com/office/drawing/2014/main" val="1809128188"/>
                    </a:ext>
                  </a:extLst>
                </a:gridCol>
                <a:gridCol w="973516">
                  <a:extLst>
                    <a:ext uri="{9D8B030D-6E8A-4147-A177-3AD203B41FA5}">
                      <a16:colId xmlns:a16="http://schemas.microsoft.com/office/drawing/2014/main" val="1579878085"/>
                    </a:ext>
                  </a:extLst>
                </a:gridCol>
              </a:tblGrid>
              <a:tr h="444403"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Parameter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Value</a:t>
                      </a:r>
                      <a:endParaRPr lang="zh-TW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3754939"/>
                  </a:ext>
                </a:extLst>
              </a:tr>
              <a:tr h="254224"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Seed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-2024</a:t>
                      </a:r>
                      <a:endParaRPr lang="zh-TW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823640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570B5245-613F-71FA-DF69-DD77174C78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86887"/>
              </p:ext>
            </p:extLst>
          </p:nvPr>
        </p:nvGraphicFramePr>
        <p:xfrm>
          <a:off x="339436" y="2551465"/>
          <a:ext cx="11487238" cy="1550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4425">
                  <a:extLst>
                    <a:ext uri="{9D8B030D-6E8A-4147-A177-3AD203B41FA5}">
                      <a16:colId xmlns:a16="http://schemas.microsoft.com/office/drawing/2014/main" val="248219165"/>
                    </a:ext>
                  </a:extLst>
                </a:gridCol>
                <a:gridCol w="942983">
                  <a:extLst>
                    <a:ext uri="{9D8B030D-6E8A-4147-A177-3AD203B41FA5}">
                      <a16:colId xmlns:a16="http://schemas.microsoft.com/office/drawing/2014/main" val="3491565831"/>
                    </a:ext>
                  </a:extLst>
                </a:gridCol>
                <a:gridCol w="942983">
                  <a:extLst>
                    <a:ext uri="{9D8B030D-6E8A-4147-A177-3AD203B41FA5}">
                      <a16:colId xmlns:a16="http://schemas.microsoft.com/office/drawing/2014/main" val="3696816999"/>
                    </a:ext>
                  </a:extLst>
                </a:gridCol>
                <a:gridCol w="942983">
                  <a:extLst>
                    <a:ext uri="{9D8B030D-6E8A-4147-A177-3AD203B41FA5}">
                      <a16:colId xmlns:a16="http://schemas.microsoft.com/office/drawing/2014/main" val="738952171"/>
                    </a:ext>
                  </a:extLst>
                </a:gridCol>
                <a:gridCol w="942983">
                  <a:extLst>
                    <a:ext uri="{9D8B030D-6E8A-4147-A177-3AD203B41FA5}">
                      <a16:colId xmlns:a16="http://schemas.microsoft.com/office/drawing/2014/main" val="86115425"/>
                    </a:ext>
                  </a:extLst>
                </a:gridCol>
                <a:gridCol w="942983">
                  <a:extLst>
                    <a:ext uri="{9D8B030D-6E8A-4147-A177-3AD203B41FA5}">
                      <a16:colId xmlns:a16="http://schemas.microsoft.com/office/drawing/2014/main" val="2249428189"/>
                    </a:ext>
                  </a:extLst>
                </a:gridCol>
                <a:gridCol w="942983">
                  <a:extLst>
                    <a:ext uri="{9D8B030D-6E8A-4147-A177-3AD203B41FA5}">
                      <a16:colId xmlns:a16="http://schemas.microsoft.com/office/drawing/2014/main" val="61804770"/>
                    </a:ext>
                  </a:extLst>
                </a:gridCol>
                <a:gridCol w="942983">
                  <a:extLst>
                    <a:ext uri="{9D8B030D-6E8A-4147-A177-3AD203B41FA5}">
                      <a16:colId xmlns:a16="http://schemas.microsoft.com/office/drawing/2014/main" val="141482404"/>
                    </a:ext>
                  </a:extLst>
                </a:gridCol>
                <a:gridCol w="942983">
                  <a:extLst>
                    <a:ext uri="{9D8B030D-6E8A-4147-A177-3AD203B41FA5}">
                      <a16:colId xmlns:a16="http://schemas.microsoft.com/office/drawing/2014/main" val="2847528618"/>
                    </a:ext>
                  </a:extLst>
                </a:gridCol>
                <a:gridCol w="942983">
                  <a:extLst>
                    <a:ext uri="{9D8B030D-6E8A-4147-A177-3AD203B41FA5}">
                      <a16:colId xmlns:a16="http://schemas.microsoft.com/office/drawing/2014/main" val="3032580448"/>
                    </a:ext>
                  </a:extLst>
                </a:gridCol>
                <a:gridCol w="942983">
                  <a:extLst>
                    <a:ext uri="{9D8B030D-6E8A-4147-A177-3AD203B41FA5}">
                      <a16:colId xmlns:a16="http://schemas.microsoft.com/office/drawing/2014/main" val="3367799511"/>
                    </a:ext>
                  </a:extLst>
                </a:gridCol>
                <a:gridCol w="942983">
                  <a:extLst>
                    <a:ext uri="{9D8B030D-6E8A-4147-A177-3AD203B41FA5}">
                      <a16:colId xmlns:a16="http://schemas.microsoft.com/office/drawing/2014/main" val="3387132114"/>
                    </a:ext>
                  </a:extLst>
                </a:gridCol>
              </a:tblGrid>
              <a:tr h="2632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SNR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1.0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1.2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1.4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1.6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1.8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2.0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2.2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2.4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2.6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2.8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3.0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9868689"/>
                  </a:ext>
                </a:extLst>
              </a:tr>
              <a:tr h="4336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Iteration =100 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0.133534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0.125736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0.114942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0.128649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 0.11605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0.121951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0.114115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0.109945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0.098298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0.087037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0.088235</a:t>
                      </a:r>
                      <a:endParaRPr lang="zh-TW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122724"/>
                  </a:ext>
                </a:extLst>
              </a:tr>
              <a:tr h="26327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Iteration =50 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0.133636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0.125659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0.114379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0.124245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0.11589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0.121027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0.111012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0.109606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0.09798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0.085442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0.086732</a:t>
                      </a:r>
                      <a:endParaRPr lang="zh-TW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2786405"/>
                  </a:ext>
                </a:extLst>
              </a:tr>
              <a:tr h="26327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Iteration =21 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0.112561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0.107357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0.102087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0.099616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0.099661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0.091202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0.087789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0.083138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0.077483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0.072145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0.066322</a:t>
                      </a:r>
                      <a:endParaRPr lang="zh-TW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110615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FFD26A10-41C3-4FB4-F12B-E4C9D05124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359301"/>
              </p:ext>
            </p:extLst>
          </p:nvPr>
        </p:nvGraphicFramePr>
        <p:xfrm>
          <a:off x="339434" y="4312555"/>
          <a:ext cx="8652166" cy="1550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662">
                  <a:extLst>
                    <a:ext uri="{9D8B030D-6E8A-4147-A177-3AD203B41FA5}">
                      <a16:colId xmlns:a16="http://schemas.microsoft.com/office/drawing/2014/main" val="2720102522"/>
                    </a:ext>
                  </a:extLst>
                </a:gridCol>
                <a:gridCol w="941938">
                  <a:extLst>
                    <a:ext uri="{9D8B030D-6E8A-4147-A177-3AD203B41FA5}">
                      <a16:colId xmlns:a16="http://schemas.microsoft.com/office/drawing/2014/main" val="601532930"/>
                    </a:ext>
                  </a:extLst>
                </a:gridCol>
                <a:gridCol w="941938">
                  <a:extLst>
                    <a:ext uri="{9D8B030D-6E8A-4147-A177-3AD203B41FA5}">
                      <a16:colId xmlns:a16="http://schemas.microsoft.com/office/drawing/2014/main" val="1589945850"/>
                    </a:ext>
                  </a:extLst>
                </a:gridCol>
                <a:gridCol w="941938">
                  <a:extLst>
                    <a:ext uri="{9D8B030D-6E8A-4147-A177-3AD203B41FA5}">
                      <a16:colId xmlns:a16="http://schemas.microsoft.com/office/drawing/2014/main" val="2242621008"/>
                    </a:ext>
                  </a:extLst>
                </a:gridCol>
                <a:gridCol w="941938">
                  <a:extLst>
                    <a:ext uri="{9D8B030D-6E8A-4147-A177-3AD203B41FA5}">
                      <a16:colId xmlns:a16="http://schemas.microsoft.com/office/drawing/2014/main" val="625514047"/>
                    </a:ext>
                  </a:extLst>
                </a:gridCol>
                <a:gridCol w="941938">
                  <a:extLst>
                    <a:ext uri="{9D8B030D-6E8A-4147-A177-3AD203B41FA5}">
                      <a16:colId xmlns:a16="http://schemas.microsoft.com/office/drawing/2014/main" val="1889436809"/>
                    </a:ext>
                  </a:extLst>
                </a:gridCol>
                <a:gridCol w="941938">
                  <a:extLst>
                    <a:ext uri="{9D8B030D-6E8A-4147-A177-3AD203B41FA5}">
                      <a16:colId xmlns:a16="http://schemas.microsoft.com/office/drawing/2014/main" val="2545326799"/>
                    </a:ext>
                  </a:extLst>
                </a:gridCol>
                <a:gridCol w="941938">
                  <a:extLst>
                    <a:ext uri="{9D8B030D-6E8A-4147-A177-3AD203B41FA5}">
                      <a16:colId xmlns:a16="http://schemas.microsoft.com/office/drawing/2014/main" val="1802786302"/>
                    </a:ext>
                  </a:extLst>
                </a:gridCol>
                <a:gridCol w="941938">
                  <a:extLst>
                    <a:ext uri="{9D8B030D-6E8A-4147-A177-3AD203B41FA5}">
                      <a16:colId xmlns:a16="http://schemas.microsoft.com/office/drawing/2014/main" val="1847321365"/>
                    </a:ext>
                  </a:extLst>
                </a:gridCol>
              </a:tblGrid>
              <a:tr h="2609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SNR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3.2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3.4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3.6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3.8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4.0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4.2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4.6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5.0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071933"/>
                  </a:ext>
                </a:extLst>
              </a:tr>
              <a:tr h="42980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Iteration =100 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0.074566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0.06197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0.04365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0.026641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0.014349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0.0055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0.000634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/>
                        <a:t>0.000074</a:t>
                      </a:r>
                      <a:endParaRPr lang="zh-TW" altLang="en-US" sz="1100" dirty="0"/>
                    </a:p>
                    <a:p>
                      <a:pPr algn="ctr"/>
                      <a:endParaRPr lang="zh-TW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868656"/>
                  </a:ext>
                </a:extLst>
              </a:tr>
              <a:tr h="42980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Iteration =50 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0.068327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0.061414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0.043195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0.026017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0.014112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0.005473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0.000629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0.000074</a:t>
                      </a:r>
                      <a:endParaRPr lang="zh-TW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669808"/>
                  </a:ext>
                </a:extLst>
              </a:tr>
              <a:tr h="42980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Iteration =21 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0.05701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0.045649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0.032396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0.019244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0.009992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0.004304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0.000424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0.000073</a:t>
                      </a:r>
                      <a:endParaRPr lang="zh-TW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428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1212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16C0F-0A98-873F-CA4D-D50513B3C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628F3B-83BE-0A4A-3FCA-5038DC497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Simulation Diagram </a:t>
            </a:r>
            <a:br>
              <a:rPr lang="en-US" altLang="zh-TW" dirty="0"/>
            </a:br>
            <a:r>
              <a:rPr lang="en-US" altLang="zh-TW" dirty="0"/>
              <a:t>( BF with different iteration )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8867C61-5B1C-F4A6-64E9-0CEFDC671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748" y="1540045"/>
            <a:ext cx="6134503" cy="5061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746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AA907-6725-CC98-892E-A2FCDEDD7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DD99B9-C766-9417-7DEC-9957514E7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36" y="376675"/>
            <a:ext cx="10515600" cy="1325563"/>
          </a:xfrm>
        </p:spPr>
        <p:txBody>
          <a:bodyPr/>
          <a:lstStyle/>
          <a:p>
            <a:r>
              <a:rPr lang="en-US" altLang="zh-TW" dirty="0"/>
              <a:t>Data ( for BF )</a:t>
            </a:r>
            <a:endParaRPr lang="zh-TW" altLang="en-US" dirty="0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928C9A0C-C719-A2F6-1FFD-A8A807810F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8522125"/>
              </p:ext>
            </p:extLst>
          </p:nvPr>
        </p:nvGraphicFramePr>
        <p:xfrm>
          <a:off x="447589" y="1484000"/>
          <a:ext cx="1876511" cy="962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995">
                  <a:extLst>
                    <a:ext uri="{9D8B030D-6E8A-4147-A177-3AD203B41FA5}">
                      <a16:colId xmlns:a16="http://schemas.microsoft.com/office/drawing/2014/main" val="85924523"/>
                    </a:ext>
                  </a:extLst>
                </a:gridCol>
                <a:gridCol w="973516">
                  <a:extLst>
                    <a:ext uri="{9D8B030D-6E8A-4147-A177-3AD203B41FA5}">
                      <a16:colId xmlns:a16="http://schemas.microsoft.com/office/drawing/2014/main" val="3044093286"/>
                    </a:ext>
                  </a:extLst>
                </a:gridCol>
              </a:tblGrid>
              <a:tr h="444403"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Parameter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Value</a:t>
                      </a:r>
                      <a:endParaRPr lang="zh-TW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641722"/>
                  </a:ext>
                </a:extLst>
              </a:tr>
              <a:tr h="2542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/>
                        <a:t>iteration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100</a:t>
                      </a:r>
                      <a:endParaRPr lang="zh-TW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430787"/>
                  </a:ext>
                </a:extLst>
              </a:tr>
              <a:tr h="254224"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Seed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-2024</a:t>
                      </a:r>
                      <a:endParaRPr lang="zh-TW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812483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15EC101-B1ED-53CF-84FA-724D0B396C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538549"/>
              </p:ext>
            </p:extLst>
          </p:nvPr>
        </p:nvGraphicFramePr>
        <p:xfrm>
          <a:off x="447589" y="2671867"/>
          <a:ext cx="11487240" cy="16740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7270">
                  <a:extLst>
                    <a:ext uri="{9D8B030D-6E8A-4147-A177-3AD203B41FA5}">
                      <a16:colId xmlns:a16="http://schemas.microsoft.com/office/drawing/2014/main" val="3392057462"/>
                    </a:ext>
                  </a:extLst>
                </a:gridCol>
                <a:gridCol w="957270">
                  <a:extLst>
                    <a:ext uri="{9D8B030D-6E8A-4147-A177-3AD203B41FA5}">
                      <a16:colId xmlns:a16="http://schemas.microsoft.com/office/drawing/2014/main" val="3878549972"/>
                    </a:ext>
                  </a:extLst>
                </a:gridCol>
                <a:gridCol w="957270">
                  <a:extLst>
                    <a:ext uri="{9D8B030D-6E8A-4147-A177-3AD203B41FA5}">
                      <a16:colId xmlns:a16="http://schemas.microsoft.com/office/drawing/2014/main" val="2638618295"/>
                    </a:ext>
                  </a:extLst>
                </a:gridCol>
                <a:gridCol w="957270">
                  <a:extLst>
                    <a:ext uri="{9D8B030D-6E8A-4147-A177-3AD203B41FA5}">
                      <a16:colId xmlns:a16="http://schemas.microsoft.com/office/drawing/2014/main" val="2809227672"/>
                    </a:ext>
                  </a:extLst>
                </a:gridCol>
                <a:gridCol w="957270">
                  <a:extLst>
                    <a:ext uri="{9D8B030D-6E8A-4147-A177-3AD203B41FA5}">
                      <a16:colId xmlns:a16="http://schemas.microsoft.com/office/drawing/2014/main" val="1709218821"/>
                    </a:ext>
                  </a:extLst>
                </a:gridCol>
                <a:gridCol w="957270">
                  <a:extLst>
                    <a:ext uri="{9D8B030D-6E8A-4147-A177-3AD203B41FA5}">
                      <a16:colId xmlns:a16="http://schemas.microsoft.com/office/drawing/2014/main" val="3782844316"/>
                    </a:ext>
                  </a:extLst>
                </a:gridCol>
                <a:gridCol w="957270">
                  <a:extLst>
                    <a:ext uri="{9D8B030D-6E8A-4147-A177-3AD203B41FA5}">
                      <a16:colId xmlns:a16="http://schemas.microsoft.com/office/drawing/2014/main" val="2872798057"/>
                    </a:ext>
                  </a:extLst>
                </a:gridCol>
                <a:gridCol w="957270">
                  <a:extLst>
                    <a:ext uri="{9D8B030D-6E8A-4147-A177-3AD203B41FA5}">
                      <a16:colId xmlns:a16="http://schemas.microsoft.com/office/drawing/2014/main" val="2178315605"/>
                    </a:ext>
                  </a:extLst>
                </a:gridCol>
                <a:gridCol w="957270">
                  <a:extLst>
                    <a:ext uri="{9D8B030D-6E8A-4147-A177-3AD203B41FA5}">
                      <a16:colId xmlns:a16="http://schemas.microsoft.com/office/drawing/2014/main" val="1017660965"/>
                    </a:ext>
                  </a:extLst>
                </a:gridCol>
                <a:gridCol w="957270">
                  <a:extLst>
                    <a:ext uri="{9D8B030D-6E8A-4147-A177-3AD203B41FA5}">
                      <a16:colId xmlns:a16="http://schemas.microsoft.com/office/drawing/2014/main" val="2485901216"/>
                    </a:ext>
                  </a:extLst>
                </a:gridCol>
                <a:gridCol w="957270">
                  <a:extLst>
                    <a:ext uri="{9D8B030D-6E8A-4147-A177-3AD203B41FA5}">
                      <a16:colId xmlns:a16="http://schemas.microsoft.com/office/drawing/2014/main" val="3377321696"/>
                    </a:ext>
                  </a:extLst>
                </a:gridCol>
                <a:gridCol w="957270">
                  <a:extLst>
                    <a:ext uri="{9D8B030D-6E8A-4147-A177-3AD203B41FA5}">
                      <a16:colId xmlns:a16="http://schemas.microsoft.com/office/drawing/2014/main" val="2506852198"/>
                    </a:ext>
                  </a:extLst>
                </a:gridCol>
              </a:tblGrid>
              <a:tr h="2632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SNR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1.0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1.2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1.4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1.6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1.8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2.0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2.2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2.4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2.6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2.8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3.0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6215030"/>
                  </a:ext>
                </a:extLst>
              </a:tr>
              <a:tr h="4336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/>
                        <a:t>Decoded Block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687069"/>
                  </a:ext>
                </a:extLst>
              </a:tr>
              <a:tr h="26327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BER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0.133534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0.125736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0.114942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0.128649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 0.11605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0.121951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0.114115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0.109945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0.098298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0.087037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0.088235</a:t>
                      </a:r>
                      <a:endParaRPr lang="zh-TW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821917"/>
                  </a:ext>
                </a:extLst>
              </a:tr>
              <a:tr h="26327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BLER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1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1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1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1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1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1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1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0.999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0.999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0.9571</a:t>
                      </a:r>
                      <a:endParaRPr lang="zh-TW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7898370"/>
                  </a:ext>
                </a:extLst>
              </a:tr>
              <a:tr h="450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Average iteration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93.55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97.97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96.8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93.55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94.975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94.94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96.427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95.066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95.066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95.426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91.996</a:t>
                      </a:r>
                      <a:endParaRPr lang="zh-TW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2305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FC8D207-4F8F-2200-83F8-EA72B41F6D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754791"/>
              </p:ext>
            </p:extLst>
          </p:nvPr>
        </p:nvGraphicFramePr>
        <p:xfrm>
          <a:off x="447590" y="4544487"/>
          <a:ext cx="8610685" cy="16740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1245">
                  <a:extLst>
                    <a:ext uri="{9D8B030D-6E8A-4147-A177-3AD203B41FA5}">
                      <a16:colId xmlns:a16="http://schemas.microsoft.com/office/drawing/2014/main" val="1072069057"/>
                    </a:ext>
                  </a:extLst>
                </a:gridCol>
                <a:gridCol w="957430">
                  <a:extLst>
                    <a:ext uri="{9D8B030D-6E8A-4147-A177-3AD203B41FA5}">
                      <a16:colId xmlns:a16="http://schemas.microsoft.com/office/drawing/2014/main" val="2878276574"/>
                    </a:ext>
                  </a:extLst>
                </a:gridCol>
                <a:gridCol w="957430">
                  <a:extLst>
                    <a:ext uri="{9D8B030D-6E8A-4147-A177-3AD203B41FA5}">
                      <a16:colId xmlns:a16="http://schemas.microsoft.com/office/drawing/2014/main" val="1211607144"/>
                    </a:ext>
                  </a:extLst>
                </a:gridCol>
                <a:gridCol w="957430">
                  <a:extLst>
                    <a:ext uri="{9D8B030D-6E8A-4147-A177-3AD203B41FA5}">
                      <a16:colId xmlns:a16="http://schemas.microsoft.com/office/drawing/2014/main" val="3050758097"/>
                    </a:ext>
                  </a:extLst>
                </a:gridCol>
                <a:gridCol w="957430">
                  <a:extLst>
                    <a:ext uri="{9D8B030D-6E8A-4147-A177-3AD203B41FA5}">
                      <a16:colId xmlns:a16="http://schemas.microsoft.com/office/drawing/2014/main" val="305922612"/>
                    </a:ext>
                  </a:extLst>
                </a:gridCol>
                <a:gridCol w="957430">
                  <a:extLst>
                    <a:ext uri="{9D8B030D-6E8A-4147-A177-3AD203B41FA5}">
                      <a16:colId xmlns:a16="http://schemas.microsoft.com/office/drawing/2014/main" val="2335448557"/>
                    </a:ext>
                  </a:extLst>
                </a:gridCol>
                <a:gridCol w="957430">
                  <a:extLst>
                    <a:ext uri="{9D8B030D-6E8A-4147-A177-3AD203B41FA5}">
                      <a16:colId xmlns:a16="http://schemas.microsoft.com/office/drawing/2014/main" val="32602525"/>
                    </a:ext>
                  </a:extLst>
                </a:gridCol>
                <a:gridCol w="957430">
                  <a:extLst>
                    <a:ext uri="{9D8B030D-6E8A-4147-A177-3AD203B41FA5}">
                      <a16:colId xmlns:a16="http://schemas.microsoft.com/office/drawing/2014/main" val="3436770663"/>
                    </a:ext>
                  </a:extLst>
                </a:gridCol>
                <a:gridCol w="957430">
                  <a:extLst>
                    <a:ext uri="{9D8B030D-6E8A-4147-A177-3AD203B41FA5}">
                      <a16:colId xmlns:a16="http://schemas.microsoft.com/office/drawing/2014/main" val="2726291324"/>
                    </a:ext>
                  </a:extLst>
                </a:gridCol>
              </a:tblGrid>
              <a:tr h="2533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SNR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3.2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3.4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3.6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3.8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4.0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4.2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4.6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5.0</a:t>
                      </a:r>
                      <a:endParaRPr lang="zh-TW" altLang="en-US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2942217"/>
                  </a:ext>
                </a:extLst>
              </a:tr>
              <a:tr h="41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/>
                        <a:t>Decoded Block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50000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288508"/>
                  </a:ext>
                </a:extLst>
              </a:tr>
              <a:tr h="253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BER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0.074566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0.06197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0.04365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0.026641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0.014349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0.0055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0.000634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0.000074</a:t>
                      </a:r>
                      <a:endParaRPr lang="zh-TW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809610"/>
                  </a:ext>
                </a:extLst>
              </a:tr>
              <a:tr h="253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BLER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0.8844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 0.7519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0.5725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0.3686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0.2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0.0981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0.0244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0.001384</a:t>
                      </a:r>
                      <a:endParaRPr lang="zh-TW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224128"/>
                  </a:ext>
                </a:extLst>
              </a:tr>
              <a:tr h="4700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Average iteration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86.2428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 75.1617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59.6204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42.065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27.0404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17.5334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9.4136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6.86724</a:t>
                      </a:r>
                      <a:endParaRPr lang="zh-TW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346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909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AF29F-E84E-4974-2503-0FDC4DBEB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C210A5-4AB3-EEF5-0697-6630119BD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01751"/>
            <a:ext cx="10515600" cy="1325563"/>
          </a:xfrm>
        </p:spPr>
        <p:txBody>
          <a:bodyPr/>
          <a:lstStyle/>
          <a:p>
            <a:r>
              <a:rPr lang="en-US" altLang="zh-TW" dirty="0"/>
              <a:t>Simulation Diagram ( for BF )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AC27274-F75A-3734-F47C-30869BAA0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995" y="1450823"/>
            <a:ext cx="6154009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914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BF97F-8E7D-0F20-D03E-8BA80623A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CF132E-AB09-51A6-2B8D-E0F4B8EB0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5" y="318943"/>
            <a:ext cx="10515600" cy="1325563"/>
          </a:xfrm>
        </p:spPr>
        <p:txBody>
          <a:bodyPr/>
          <a:lstStyle/>
          <a:p>
            <a:r>
              <a:rPr lang="en-US" altLang="zh-TW" dirty="0"/>
              <a:t>Simulation Diagram </a:t>
            </a:r>
            <a:br>
              <a:rPr lang="en-US" altLang="zh-TW" dirty="0"/>
            </a:br>
            <a:r>
              <a:rPr lang="en-US" altLang="zh-TW" dirty="0"/>
              <a:t>(BER : SPA </a:t>
            </a:r>
            <a:r>
              <a:rPr lang="zh-TW" altLang="en-US" dirty="0"/>
              <a:t>＆</a:t>
            </a:r>
            <a:r>
              <a:rPr lang="en-US" altLang="zh-TW" dirty="0"/>
              <a:t> MSA </a:t>
            </a:r>
            <a:r>
              <a:rPr lang="zh-TW" altLang="en-US" dirty="0"/>
              <a:t>＆ </a:t>
            </a:r>
            <a:r>
              <a:rPr lang="en-US" altLang="zh-TW" dirty="0"/>
              <a:t>BF )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FF75DCE-C3B2-E00E-6108-4F66C109D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611" y="1644506"/>
            <a:ext cx="5925377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340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341E6-66D6-3569-279A-9AC08395E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5742F1-FCFC-1B32-E149-F93F54669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5" y="318943"/>
            <a:ext cx="10515600" cy="1325563"/>
          </a:xfrm>
        </p:spPr>
        <p:txBody>
          <a:bodyPr/>
          <a:lstStyle/>
          <a:p>
            <a:r>
              <a:rPr lang="en-US" altLang="zh-TW" dirty="0"/>
              <a:t>Simulation Diagram </a:t>
            </a:r>
            <a:br>
              <a:rPr lang="en-US" altLang="zh-TW" dirty="0"/>
            </a:br>
            <a:r>
              <a:rPr lang="en-US" altLang="zh-TW" dirty="0"/>
              <a:t>(BLER : SPA </a:t>
            </a:r>
            <a:r>
              <a:rPr lang="zh-TW" altLang="en-US" dirty="0"/>
              <a:t>＆</a:t>
            </a:r>
            <a:r>
              <a:rPr lang="en-US" altLang="zh-TW" dirty="0"/>
              <a:t> MSA </a:t>
            </a:r>
            <a:r>
              <a:rPr lang="zh-TW" altLang="en-US" dirty="0"/>
              <a:t>＆ </a:t>
            </a:r>
            <a:r>
              <a:rPr lang="en-US" altLang="zh-TW" dirty="0"/>
              <a:t>BF )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D5CCA33-C2FD-74B4-D792-220017B5D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871" y="1644506"/>
            <a:ext cx="5792008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387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3238</TotalTime>
  <Words>586</Words>
  <Application>Microsoft Office PowerPoint</Application>
  <PresentationFormat>寬螢幕</PresentationFormat>
  <Paragraphs>407</Paragraphs>
  <Slides>16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3" baseType="lpstr">
      <vt:lpstr>標楷體</vt:lpstr>
      <vt:lpstr>Aptos</vt:lpstr>
      <vt:lpstr>Aptos Display</vt:lpstr>
      <vt:lpstr>Arial</vt:lpstr>
      <vt:lpstr>Cambria Math</vt:lpstr>
      <vt:lpstr>Times New Roman</vt:lpstr>
      <vt:lpstr>Office 佈景主題</vt:lpstr>
      <vt:lpstr>LDPC Decoding</vt:lpstr>
      <vt:lpstr>Block Diagram</vt:lpstr>
      <vt:lpstr>Flow Chart ( for SPA and  MSA )</vt:lpstr>
      <vt:lpstr>Flow Chart ( for BF )</vt:lpstr>
      <vt:lpstr>Data ( for SPA )</vt:lpstr>
      <vt:lpstr>Simulation Diagram ( for SPA )</vt:lpstr>
      <vt:lpstr>Data ( for MSA )</vt:lpstr>
      <vt:lpstr>Simulation Diagram ( for MSA )</vt:lpstr>
      <vt:lpstr>Simulation Diagram  ( BER : SPA compare MSA )</vt:lpstr>
      <vt:lpstr>Simulation Diagram  ( BER : SPA compare MSA )</vt:lpstr>
      <vt:lpstr>Data ( BF with different iteration )</vt:lpstr>
      <vt:lpstr>Simulation Diagram  ( BF with different iteration )</vt:lpstr>
      <vt:lpstr>Data ( for BF )</vt:lpstr>
      <vt:lpstr>Simulation Diagram ( for BF )</vt:lpstr>
      <vt:lpstr>Simulation Diagram  (BER : SPA ＆ MSA ＆ BF )</vt:lpstr>
      <vt:lpstr>Simulation Diagram  (BLER : SPA ＆ MSA ＆ BF 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李姿穎 LEE,ZIH-YING</dc:creator>
  <cp:lastModifiedBy>李姿穎 LEE,ZIH-YING</cp:lastModifiedBy>
  <cp:revision>14</cp:revision>
  <dcterms:created xsi:type="dcterms:W3CDTF">2024-12-08T12:15:42Z</dcterms:created>
  <dcterms:modified xsi:type="dcterms:W3CDTF">2025-01-22T08:42:16Z</dcterms:modified>
</cp:coreProperties>
</file>